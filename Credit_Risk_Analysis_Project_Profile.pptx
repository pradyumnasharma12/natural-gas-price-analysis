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0BAEA-F9BF-443C-95E4-D315F2F412E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4D9A12-3218-4EA4-81E1-1C5916316635}">
      <dgm:prSet/>
      <dgm:spPr/>
      <dgm:t>
        <a:bodyPr/>
        <a:lstStyle/>
        <a:p>
          <a:pPr>
            <a:defRPr cap="all"/>
          </a:pPr>
          <a:r>
            <a:rPr lang="en-US" b="0" i="0" baseline="0"/>
            <a:t>Retail banking portfolios are exposed to borrower defaults</a:t>
          </a:r>
          <a:endParaRPr lang="en-US"/>
        </a:p>
      </dgm:t>
    </dgm:pt>
    <dgm:pt modelId="{5F9DBE68-2A15-49B8-9523-1F5BDC08D10B}" type="parTrans" cxnId="{F497475D-9F54-4888-8F76-709E60EE8161}">
      <dgm:prSet/>
      <dgm:spPr/>
      <dgm:t>
        <a:bodyPr/>
        <a:lstStyle/>
        <a:p>
          <a:endParaRPr lang="en-US"/>
        </a:p>
      </dgm:t>
    </dgm:pt>
    <dgm:pt modelId="{CE030B50-B9F8-4677-9BAA-8B1D4B5154B2}" type="sibTrans" cxnId="{F497475D-9F54-4888-8F76-709E60EE8161}">
      <dgm:prSet/>
      <dgm:spPr/>
      <dgm:t>
        <a:bodyPr/>
        <a:lstStyle/>
        <a:p>
          <a:endParaRPr lang="en-US"/>
        </a:p>
      </dgm:t>
    </dgm:pt>
    <dgm:pt modelId="{F27C296A-BA22-4820-AE77-73111EA4FD78}">
      <dgm:prSet/>
      <dgm:spPr/>
      <dgm:t>
        <a:bodyPr/>
        <a:lstStyle/>
        <a:p>
          <a:pPr>
            <a:defRPr cap="all"/>
          </a:pPr>
          <a:r>
            <a:rPr lang="en-US" b="0" i="0" baseline="0"/>
            <a:t>Loan defaults result in financial losses and higher capital requirements</a:t>
          </a:r>
          <a:endParaRPr lang="en-US"/>
        </a:p>
      </dgm:t>
    </dgm:pt>
    <dgm:pt modelId="{1BCE2142-5250-4CDA-A562-18F8BE71FFE0}" type="parTrans" cxnId="{645D7654-CE60-4402-A8DC-3F57422294F9}">
      <dgm:prSet/>
      <dgm:spPr/>
      <dgm:t>
        <a:bodyPr/>
        <a:lstStyle/>
        <a:p>
          <a:endParaRPr lang="en-US"/>
        </a:p>
      </dgm:t>
    </dgm:pt>
    <dgm:pt modelId="{E8217CC5-C178-49D1-9C1A-7BA25588471E}" type="sibTrans" cxnId="{645D7654-CE60-4402-A8DC-3F57422294F9}">
      <dgm:prSet/>
      <dgm:spPr/>
      <dgm:t>
        <a:bodyPr/>
        <a:lstStyle/>
        <a:p>
          <a:endParaRPr lang="en-US"/>
        </a:p>
      </dgm:t>
    </dgm:pt>
    <dgm:pt modelId="{CFA32062-35DD-42E5-A134-4A70F82A43A8}">
      <dgm:prSet/>
      <dgm:spPr/>
      <dgm:t>
        <a:bodyPr/>
        <a:lstStyle/>
        <a:p>
          <a:pPr>
            <a:defRPr cap="all"/>
          </a:pPr>
          <a:r>
            <a:rPr lang="en-US" b="0" i="0" baseline="0"/>
            <a:t>Risk teams need a systematic way to quantify default risk</a:t>
          </a:r>
          <a:endParaRPr lang="en-US"/>
        </a:p>
      </dgm:t>
    </dgm:pt>
    <dgm:pt modelId="{4CB108E9-9161-482F-A9E3-A372383F50D5}" type="parTrans" cxnId="{CE712B5E-72B9-4AC1-9CB1-314EEE564D62}">
      <dgm:prSet/>
      <dgm:spPr/>
      <dgm:t>
        <a:bodyPr/>
        <a:lstStyle/>
        <a:p>
          <a:endParaRPr lang="en-US"/>
        </a:p>
      </dgm:t>
    </dgm:pt>
    <dgm:pt modelId="{90056D41-F341-434C-9B01-3D98ABFFC30D}" type="sibTrans" cxnId="{CE712B5E-72B9-4AC1-9CB1-314EEE564D62}">
      <dgm:prSet/>
      <dgm:spPr/>
      <dgm:t>
        <a:bodyPr/>
        <a:lstStyle/>
        <a:p>
          <a:endParaRPr lang="en-US"/>
        </a:p>
      </dgm:t>
    </dgm:pt>
    <dgm:pt modelId="{FA8247B3-1A15-45A1-B634-E53112FE900C}">
      <dgm:prSet/>
      <dgm:spPr/>
      <dgm:t>
        <a:bodyPr/>
        <a:lstStyle/>
        <a:p>
          <a:pPr>
            <a:defRPr cap="all"/>
          </a:pPr>
          <a:r>
            <a:rPr lang="en-US" b="0" i="0" baseline="0"/>
            <a:t>Objective: estimate the probability of default and expected loss for loans</a:t>
          </a:r>
          <a:endParaRPr lang="en-US"/>
        </a:p>
      </dgm:t>
    </dgm:pt>
    <dgm:pt modelId="{0401754D-1A6A-4C6D-9B02-A37E134DA359}" type="parTrans" cxnId="{77CA1876-88F2-4EBA-A449-60003A067D5D}">
      <dgm:prSet/>
      <dgm:spPr/>
      <dgm:t>
        <a:bodyPr/>
        <a:lstStyle/>
        <a:p>
          <a:endParaRPr lang="en-US"/>
        </a:p>
      </dgm:t>
    </dgm:pt>
    <dgm:pt modelId="{EF0EBFCA-E573-4147-997C-0D5F42E8BE13}" type="sibTrans" cxnId="{77CA1876-88F2-4EBA-A449-60003A067D5D}">
      <dgm:prSet/>
      <dgm:spPr/>
      <dgm:t>
        <a:bodyPr/>
        <a:lstStyle/>
        <a:p>
          <a:endParaRPr lang="en-US"/>
        </a:p>
      </dgm:t>
    </dgm:pt>
    <dgm:pt modelId="{7B8B2461-EE57-4B0F-96C9-B8132F4663BA}" type="pres">
      <dgm:prSet presAssocID="{48A0BAEA-F9BF-443C-95E4-D315F2F412E8}" presName="root" presStyleCnt="0">
        <dgm:presLayoutVars>
          <dgm:dir/>
          <dgm:resizeHandles val="exact"/>
        </dgm:presLayoutVars>
      </dgm:prSet>
      <dgm:spPr/>
    </dgm:pt>
    <dgm:pt modelId="{68FBB071-698B-48AC-915E-9FA0F0E103DB}" type="pres">
      <dgm:prSet presAssocID="{624D9A12-3218-4EA4-81E1-1C5916316635}" presName="compNode" presStyleCnt="0"/>
      <dgm:spPr/>
    </dgm:pt>
    <dgm:pt modelId="{6BF8FC71-FD74-4843-9351-A4A5D2859957}" type="pres">
      <dgm:prSet presAssocID="{624D9A12-3218-4EA4-81E1-1C591631663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0AD2F0B-E99D-4BFE-9D79-3F0FFE1A7120}" type="pres">
      <dgm:prSet presAssocID="{624D9A12-3218-4EA4-81E1-1C59163166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473AA3E-113A-4BFB-B02E-0937B67DF0B6}" type="pres">
      <dgm:prSet presAssocID="{624D9A12-3218-4EA4-81E1-1C5916316635}" presName="spaceRect" presStyleCnt="0"/>
      <dgm:spPr/>
    </dgm:pt>
    <dgm:pt modelId="{98FA5522-BD2B-4EEA-8B50-32C84AA6955A}" type="pres">
      <dgm:prSet presAssocID="{624D9A12-3218-4EA4-81E1-1C5916316635}" presName="textRect" presStyleLbl="revTx" presStyleIdx="0" presStyleCnt="4">
        <dgm:presLayoutVars>
          <dgm:chMax val="1"/>
          <dgm:chPref val="1"/>
        </dgm:presLayoutVars>
      </dgm:prSet>
      <dgm:spPr/>
    </dgm:pt>
    <dgm:pt modelId="{312ADE63-7DDC-4BCB-A917-388B4E0A098F}" type="pres">
      <dgm:prSet presAssocID="{CE030B50-B9F8-4677-9BAA-8B1D4B5154B2}" presName="sibTrans" presStyleCnt="0"/>
      <dgm:spPr/>
    </dgm:pt>
    <dgm:pt modelId="{90BF21E9-31F4-4CB1-ABC3-BCE56CCE34C1}" type="pres">
      <dgm:prSet presAssocID="{F27C296A-BA22-4820-AE77-73111EA4FD78}" presName="compNode" presStyleCnt="0"/>
      <dgm:spPr/>
    </dgm:pt>
    <dgm:pt modelId="{2B113E91-794A-40CA-8D17-61B9261DB102}" type="pres">
      <dgm:prSet presAssocID="{F27C296A-BA22-4820-AE77-73111EA4FD7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72AC0BE-0983-470C-9590-4D203481A4A2}" type="pres">
      <dgm:prSet presAssocID="{F27C296A-BA22-4820-AE77-73111EA4FD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AF49A4E-8A70-49AF-A07B-0F3899D0F1C1}" type="pres">
      <dgm:prSet presAssocID="{F27C296A-BA22-4820-AE77-73111EA4FD78}" presName="spaceRect" presStyleCnt="0"/>
      <dgm:spPr/>
    </dgm:pt>
    <dgm:pt modelId="{AEE32033-87E4-4FD8-B338-242B26676C21}" type="pres">
      <dgm:prSet presAssocID="{F27C296A-BA22-4820-AE77-73111EA4FD78}" presName="textRect" presStyleLbl="revTx" presStyleIdx="1" presStyleCnt="4">
        <dgm:presLayoutVars>
          <dgm:chMax val="1"/>
          <dgm:chPref val="1"/>
        </dgm:presLayoutVars>
      </dgm:prSet>
      <dgm:spPr/>
    </dgm:pt>
    <dgm:pt modelId="{738ACED2-93F1-490A-B558-EBFD8CA7B07F}" type="pres">
      <dgm:prSet presAssocID="{E8217CC5-C178-49D1-9C1A-7BA25588471E}" presName="sibTrans" presStyleCnt="0"/>
      <dgm:spPr/>
    </dgm:pt>
    <dgm:pt modelId="{941AC3A9-96B6-4CCE-8673-0FD7E8C1AE7F}" type="pres">
      <dgm:prSet presAssocID="{CFA32062-35DD-42E5-A134-4A70F82A43A8}" presName="compNode" presStyleCnt="0"/>
      <dgm:spPr/>
    </dgm:pt>
    <dgm:pt modelId="{55B41C13-67D3-4FDB-AB98-1BFD0BA32EF0}" type="pres">
      <dgm:prSet presAssocID="{CFA32062-35DD-42E5-A134-4A70F82A43A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1877E96-7439-4B63-A50F-8535A4B317F1}" type="pres">
      <dgm:prSet presAssocID="{CFA32062-35DD-42E5-A134-4A70F82A43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1EDD643-7A7B-47DC-A214-3BDC7EE88E96}" type="pres">
      <dgm:prSet presAssocID="{CFA32062-35DD-42E5-A134-4A70F82A43A8}" presName="spaceRect" presStyleCnt="0"/>
      <dgm:spPr/>
    </dgm:pt>
    <dgm:pt modelId="{73BF4B42-6288-46DC-B422-0C2365D33A48}" type="pres">
      <dgm:prSet presAssocID="{CFA32062-35DD-42E5-A134-4A70F82A43A8}" presName="textRect" presStyleLbl="revTx" presStyleIdx="2" presStyleCnt="4">
        <dgm:presLayoutVars>
          <dgm:chMax val="1"/>
          <dgm:chPref val="1"/>
        </dgm:presLayoutVars>
      </dgm:prSet>
      <dgm:spPr/>
    </dgm:pt>
    <dgm:pt modelId="{017F4F5B-4132-477F-9DD5-43679E2616FB}" type="pres">
      <dgm:prSet presAssocID="{90056D41-F341-434C-9B01-3D98ABFFC30D}" presName="sibTrans" presStyleCnt="0"/>
      <dgm:spPr/>
    </dgm:pt>
    <dgm:pt modelId="{041C3B50-2149-4DE5-8DEB-64BB26017C8E}" type="pres">
      <dgm:prSet presAssocID="{FA8247B3-1A15-45A1-B634-E53112FE900C}" presName="compNode" presStyleCnt="0"/>
      <dgm:spPr/>
    </dgm:pt>
    <dgm:pt modelId="{5E7681A3-F132-4275-95C8-14C0CC57E804}" type="pres">
      <dgm:prSet presAssocID="{FA8247B3-1A15-45A1-B634-E53112FE900C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1A9B3ED-0D84-4E85-B160-B2D100B4EE56}" type="pres">
      <dgm:prSet presAssocID="{FA8247B3-1A15-45A1-B634-E53112FE900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917CC3A-3CD6-48E5-B6DD-718B97A4D97E}" type="pres">
      <dgm:prSet presAssocID="{FA8247B3-1A15-45A1-B634-E53112FE900C}" presName="spaceRect" presStyleCnt="0"/>
      <dgm:spPr/>
    </dgm:pt>
    <dgm:pt modelId="{A81D3734-B389-4135-A8DA-6BC679336152}" type="pres">
      <dgm:prSet presAssocID="{FA8247B3-1A15-45A1-B634-E53112FE90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D75190F-1096-4B0C-AF6A-DEBF29996BC7}" type="presOf" srcId="{CFA32062-35DD-42E5-A134-4A70F82A43A8}" destId="{73BF4B42-6288-46DC-B422-0C2365D33A48}" srcOrd="0" destOrd="0" presId="urn:microsoft.com/office/officeart/2018/5/layout/IconLeafLabelList"/>
    <dgm:cxn modelId="{26CF6A3E-D611-4571-B3D8-D53F5026495F}" type="presOf" srcId="{48A0BAEA-F9BF-443C-95E4-D315F2F412E8}" destId="{7B8B2461-EE57-4B0F-96C9-B8132F4663BA}" srcOrd="0" destOrd="0" presId="urn:microsoft.com/office/officeart/2018/5/layout/IconLeafLabelList"/>
    <dgm:cxn modelId="{F497475D-9F54-4888-8F76-709E60EE8161}" srcId="{48A0BAEA-F9BF-443C-95E4-D315F2F412E8}" destId="{624D9A12-3218-4EA4-81E1-1C5916316635}" srcOrd="0" destOrd="0" parTransId="{5F9DBE68-2A15-49B8-9523-1F5BDC08D10B}" sibTransId="{CE030B50-B9F8-4677-9BAA-8B1D4B5154B2}"/>
    <dgm:cxn modelId="{CE712B5E-72B9-4AC1-9CB1-314EEE564D62}" srcId="{48A0BAEA-F9BF-443C-95E4-D315F2F412E8}" destId="{CFA32062-35DD-42E5-A134-4A70F82A43A8}" srcOrd="2" destOrd="0" parTransId="{4CB108E9-9161-482F-A9E3-A372383F50D5}" sibTransId="{90056D41-F341-434C-9B01-3D98ABFFC30D}"/>
    <dgm:cxn modelId="{577F7D53-00FE-4BD7-8055-77252D9A86EE}" type="presOf" srcId="{FA8247B3-1A15-45A1-B634-E53112FE900C}" destId="{A81D3734-B389-4135-A8DA-6BC679336152}" srcOrd="0" destOrd="0" presId="urn:microsoft.com/office/officeart/2018/5/layout/IconLeafLabelList"/>
    <dgm:cxn modelId="{645D7654-CE60-4402-A8DC-3F57422294F9}" srcId="{48A0BAEA-F9BF-443C-95E4-D315F2F412E8}" destId="{F27C296A-BA22-4820-AE77-73111EA4FD78}" srcOrd="1" destOrd="0" parTransId="{1BCE2142-5250-4CDA-A562-18F8BE71FFE0}" sibTransId="{E8217CC5-C178-49D1-9C1A-7BA25588471E}"/>
    <dgm:cxn modelId="{77CA1876-88F2-4EBA-A449-60003A067D5D}" srcId="{48A0BAEA-F9BF-443C-95E4-D315F2F412E8}" destId="{FA8247B3-1A15-45A1-B634-E53112FE900C}" srcOrd="3" destOrd="0" parTransId="{0401754D-1A6A-4C6D-9B02-A37E134DA359}" sibTransId="{EF0EBFCA-E573-4147-997C-0D5F42E8BE13}"/>
    <dgm:cxn modelId="{899BB687-D8B6-49F2-82B3-4A888A6F8F2F}" type="presOf" srcId="{624D9A12-3218-4EA4-81E1-1C5916316635}" destId="{98FA5522-BD2B-4EEA-8B50-32C84AA6955A}" srcOrd="0" destOrd="0" presId="urn:microsoft.com/office/officeart/2018/5/layout/IconLeafLabelList"/>
    <dgm:cxn modelId="{F28E98DA-4A2A-4262-AA4D-4A6872E0F45D}" type="presOf" srcId="{F27C296A-BA22-4820-AE77-73111EA4FD78}" destId="{AEE32033-87E4-4FD8-B338-242B26676C21}" srcOrd="0" destOrd="0" presId="urn:microsoft.com/office/officeart/2018/5/layout/IconLeafLabelList"/>
    <dgm:cxn modelId="{2967C08E-32C6-4303-9CB7-9763B18E2279}" type="presParOf" srcId="{7B8B2461-EE57-4B0F-96C9-B8132F4663BA}" destId="{68FBB071-698B-48AC-915E-9FA0F0E103DB}" srcOrd="0" destOrd="0" presId="urn:microsoft.com/office/officeart/2018/5/layout/IconLeafLabelList"/>
    <dgm:cxn modelId="{E1BE1A5D-162F-420E-87EA-3B14D388ED7B}" type="presParOf" srcId="{68FBB071-698B-48AC-915E-9FA0F0E103DB}" destId="{6BF8FC71-FD74-4843-9351-A4A5D2859957}" srcOrd="0" destOrd="0" presId="urn:microsoft.com/office/officeart/2018/5/layout/IconLeafLabelList"/>
    <dgm:cxn modelId="{C90FA26D-0D02-4E3F-91BC-103E8155A107}" type="presParOf" srcId="{68FBB071-698B-48AC-915E-9FA0F0E103DB}" destId="{60AD2F0B-E99D-4BFE-9D79-3F0FFE1A7120}" srcOrd="1" destOrd="0" presId="urn:microsoft.com/office/officeart/2018/5/layout/IconLeafLabelList"/>
    <dgm:cxn modelId="{FB75EA4A-94A3-4376-B93C-BC8BB78E682F}" type="presParOf" srcId="{68FBB071-698B-48AC-915E-9FA0F0E103DB}" destId="{8473AA3E-113A-4BFB-B02E-0937B67DF0B6}" srcOrd="2" destOrd="0" presId="urn:microsoft.com/office/officeart/2018/5/layout/IconLeafLabelList"/>
    <dgm:cxn modelId="{84F1AE1B-5503-44C5-A585-A9FD2645459E}" type="presParOf" srcId="{68FBB071-698B-48AC-915E-9FA0F0E103DB}" destId="{98FA5522-BD2B-4EEA-8B50-32C84AA6955A}" srcOrd="3" destOrd="0" presId="urn:microsoft.com/office/officeart/2018/5/layout/IconLeafLabelList"/>
    <dgm:cxn modelId="{CBDA1967-102F-4518-9FBC-825E8DBDF821}" type="presParOf" srcId="{7B8B2461-EE57-4B0F-96C9-B8132F4663BA}" destId="{312ADE63-7DDC-4BCB-A917-388B4E0A098F}" srcOrd="1" destOrd="0" presId="urn:microsoft.com/office/officeart/2018/5/layout/IconLeafLabelList"/>
    <dgm:cxn modelId="{50C7AC8B-8968-4525-93BA-E74D8A67CFE4}" type="presParOf" srcId="{7B8B2461-EE57-4B0F-96C9-B8132F4663BA}" destId="{90BF21E9-31F4-4CB1-ABC3-BCE56CCE34C1}" srcOrd="2" destOrd="0" presId="urn:microsoft.com/office/officeart/2018/5/layout/IconLeafLabelList"/>
    <dgm:cxn modelId="{416A3831-883B-4625-856C-097068209C84}" type="presParOf" srcId="{90BF21E9-31F4-4CB1-ABC3-BCE56CCE34C1}" destId="{2B113E91-794A-40CA-8D17-61B9261DB102}" srcOrd="0" destOrd="0" presId="urn:microsoft.com/office/officeart/2018/5/layout/IconLeafLabelList"/>
    <dgm:cxn modelId="{3CAE3F6D-D25E-4AF6-9702-35D33BE9D9F1}" type="presParOf" srcId="{90BF21E9-31F4-4CB1-ABC3-BCE56CCE34C1}" destId="{672AC0BE-0983-470C-9590-4D203481A4A2}" srcOrd="1" destOrd="0" presId="urn:microsoft.com/office/officeart/2018/5/layout/IconLeafLabelList"/>
    <dgm:cxn modelId="{04BF5935-C508-4163-96F3-E1B8832C566D}" type="presParOf" srcId="{90BF21E9-31F4-4CB1-ABC3-BCE56CCE34C1}" destId="{6AF49A4E-8A70-49AF-A07B-0F3899D0F1C1}" srcOrd="2" destOrd="0" presId="urn:microsoft.com/office/officeart/2018/5/layout/IconLeafLabelList"/>
    <dgm:cxn modelId="{C8E50971-E2ED-4C23-8D57-810E0F8DD7C6}" type="presParOf" srcId="{90BF21E9-31F4-4CB1-ABC3-BCE56CCE34C1}" destId="{AEE32033-87E4-4FD8-B338-242B26676C21}" srcOrd="3" destOrd="0" presId="urn:microsoft.com/office/officeart/2018/5/layout/IconLeafLabelList"/>
    <dgm:cxn modelId="{6A3894EE-A0A0-481C-9A9C-D68BA7F5F8C5}" type="presParOf" srcId="{7B8B2461-EE57-4B0F-96C9-B8132F4663BA}" destId="{738ACED2-93F1-490A-B558-EBFD8CA7B07F}" srcOrd="3" destOrd="0" presId="urn:microsoft.com/office/officeart/2018/5/layout/IconLeafLabelList"/>
    <dgm:cxn modelId="{9B587A60-86C1-4BC8-A9DF-393CC0DB4091}" type="presParOf" srcId="{7B8B2461-EE57-4B0F-96C9-B8132F4663BA}" destId="{941AC3A9-96B6-4CCE-8673-0FD7E8C1AE7F}" srcOrd="4" destOrd="0" presId="urn:microsoft.com/office/officeart/2018/5/layout/IconLeafLabelList"/>
    <dgm:cxn modelId="{91D3FDB2-F9EA-4B26-AFEF-43266CE11039}" type="presParOf" srcId="{941AC3A9-96B6-4CCE-8673-0FD7E8C1AE7F}" destId="{55B41C13-67D3-4FDB-AB98-1BFD0BA32EF0}" srcOrd="0" destOrd="0" presId="urn:microsoft.com/office/officeart/2018/5/layout/IconLeafLabelList"/>
    <dgm:cxn modelId="{1B72DA46-D9BB-4BEF-B348-D0E37AE6E49A}" type="presParOf" srcId="{941AC3A9-96B6-4CCE-8673-0FD7E8C1AE7F}" destId="{C1877E96-7439-4B63-A50F-8535A4B317F1}" srcOrd="1" destOrd="0" presId="urn:microsoft.com/office/officeart/2018/5/layout/IconLeafLabelList"/>
    <dgm:cxn modelId="{961B4A32-0FAC-4C98-A88C-9A489B088732}" type="presParOf" srcId="{941AC3A9-96B6-4CCE-8673-0FD7E8C1AE7F}" destId="{C1EDD643-7A7B-47DC-A214-3BDC7EE88E96}" srcOrd="2" destOrd="0" presId="urn:microsoft.com/office/officeart/2018/5/layout/IconLeafLabelList"/>
    <dgm:cxn modelId="{ACC5D75A-67BD-4869-9C53-3788B288A882}" type="presParOf" srcId="{941AC3A9-96B6-4CCE-8673-0FD7E8C1AE7F}" destId="{73BF4B42-6288-46DC-B422-0C2365D33A48}" srcOrd="3" destOrd="0" presId="urn:microsoft.com/office/officeart/2018/5/layout/IconLeafLabelList"/>
    <dgm:cxn modelId="{295AF760-6724-48BB-B39C-56EA0FDE53C4}" type="presParOf" srcId="{7B8B2461-EE57-4B0F-96C9-B8132F4663BA}" destId="{017F4F5B-4132-477F-9DD5-43679E2616FB}" srcOrd="5" destOrd="0" presId="urn:microsoft.com/office/officeart/2018/5/layout/IconLeafLabelList"/>
    <dgm:cxn modelId="{7EA7E779-2A00-4B93-887C-305984DDF6DB}" type="presParOf" srcId="{7B8B2461-EE57-4B0F-96C9-B8132F4663BA}" destId="{041C3B50-2149-4DE5-8DEB-64BB26017C8E}" srcOrd="6" destOrd="0" presId="urn:microsoft.com/office/officeart/2018/5/layout/IconLeafLabelList"/>
    <dgm:cxn modelId="{F71A2EEA-63FB-40E6-805E-300C05CFF365}" type="presParOf" srcId="{041C3B50-2149-4DE5-8DEB-64BB26017C8E}" destId="{5E7681A3-F132-4275-95C8-14C0CC57E804}" srcOrd="0" destOrd="0" presId="urn:microsoft.com/office/officeart/2018/5/layout/IconLeafLabelList"/>
    <dgm:cxn modelId="{9ACC6663-D9C2-4D4F-A5D5-53F8B75E1A76}" type="presParOf" srcId="{041C3B50-2149-4DE5-8DEB-64BB26017C8E}" destId="{01A9B3ED-0D84-4E85-B160-B2D100B4EE56}" srcOrd="1" destOrd="0" presId="urn:microsoft.com/office/officeart/2018/5/layout/IconLeafLabelList"/>
    <dgm:cxn modelId="{EC3476E5-4834-4A34-9B22-6420293D402F}" type="presParOf" srcId="{041C3B50-2149-4DE5-8DEB-64BB26017C8E}" destId="{1917CC3A-3CD6-48E5-B6DD-718B97A4D97E}" srcOrd="2" destOrd="0" presId="urn:microsoft.com/office/officeart/2018/5/layout/IconLeafLabelList"/>
    <dgm:cxn modelId="{E0D0CC8E-08D6-4C65-BC6B-AAE9E8721BF2}" type="presParOf" srcId="{041C3B50-2149-4DE5-8DEB-64BB26017C8E}" destId="{A81D3734-B389-4135-A8DA-6BC67933615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8FC71-FD74-4843-9351-A4A5D2859957}">
      <dsp:nvSpPr>
        <dsp:cNvPr id="0" name=""/>
        <dsp:cNvSpPr/>
      </dsp:nvSpPr>
      <dsp:spPr>
        <a:xfrm>
          <a:off x="549246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D2F0B-E99D-4BFE-9D79-3F0FFE1A7120}">
      <dsp:nvSpPr>
        <dsp:cNvPr id="0" name=""/>
        <dsp:cNvSpPr/>
      </dsp:nvSpPr>
      <dsp:spPr>
        <a:xfrm>
          <a:off x="857109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A5522-BD2B-4EEA-8B50-32C84AA6955A}">
      <dsp:nvSpPr>
        <dsp:cNvPr id="0" name=""/>
        <dsp:cNvSpPr/>
      </dsp:nvSpPr>
      <dsp:spPr>
        <a:xfrm>
          <a:off x="87450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Retail banking portfolios are exposed to borrower defaults</a:t>
          </a:r>
          <a:endParaRPr lang="en-US" sz="1300" kern="1200"/>
        </a:p>
      </dsp:txBody>
      <dsp:txXfrm>
        <a:off x="87450" y="2456704"/>
        <a:ext cx="2368183" cy="720000"/>
      </dsp:txXfrm>
    </dsp:sp>
    <dsp:sp modelId="{2B113E91-794A-40CA-8D17-61B9261DB102}">
      <dsp:nvSpPr>
        <dsp:cNvPr id="0" name=""/>
        <dsp:cNvSpPr/>
      </dsp:nvSpPr>
      <dsp:spPr>
        <a:xfrm>
          <a:off x="3331861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AC0BE-0983-470C-9590-4D203481A4A2}">
      <dsp:nvSpPr>
        <dsp:cNvPr id="0" name=""/>
        <dsp:cNvSpPr/>
      </dsp:nvSpPr>
      <dsp:spPr>
        <a:xfrm>
          <a:off x="3639724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32033-87E4-4FD8-B338-242B26676C21}">
      <dsp:nvSpPr>
        <dsp:cNvPr id="0" name=""/>
        <dsp:cNvSpPr/>
      </dsp:nvSpPr>
      <dsp:spPr>
        <a:xfrm>
          <a:off x="2870065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Loan defaults result in financial losses and higher capital requirements</a:t>
          </a:r>
          <a:endParaRPr lang="en-US" sz="1300" kern="1200"/>
        </a:p>
      </dsp:txBody>
      <dsp:txXfrm>
        <a:off x="2870065" y="2456704"/>
        <a:ext cx="2368183" cy="720000"/>
      </dsp:txXfrm>
    </dsp:sp>
    <dsp:sp modelId="{55B41C13-67D3-4FDB-AB98-1BFD0BA32EF0}">
      <dsp:nvSpPr>
        <dsp:cNvPr id="0" name=""/>
        <dsp:cNvSpPr/>
      </dsp:nvSpPr>
      <dsp:spPr>
        <a:xfrm>
          <a:off x="6114476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77E96-7439-4B63-A50F-8535A4B317F1}">
      <dsp:nvSpPr>
        <dsp:cNvPr id="0" name=""/>
        <dsp:cNvSpPr/>
      </dsp:nvSpPr>
      <dsp:spPr>
        <a:xfrm>
          <a:off x="6422340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F4B42-6288-46DC-B422-0C2365D33A48}">
      <dsp:nvSpPr>
        <dsp:cNvPr id="0" name=""/>
        <dsp:cNvSpPr/>
      </dsp:nvSpPr>
      <dsp:spPr>
        <a:xfrm>
          <a:off x="5652680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Risk teams need a systematic way to quantify default risk</a:t>
          </a:r>
          <a:endParaRPr lang="en-US" sz="1300" kern="1200"/>
        </a:p>
      </dsp:txBody>
      <dsp:txXfrm>
        <a:off x="5652680" y="2456704"/>
        <a:ext cx="2368183" cy="720000"/>
      </dsp:txXfrm>
    </dsp:sp>
    <dsp:sp modelId="{5E7681A3-F132-4275-95C8-14C0CC57E804}">
      <dsp:nvSpPr>
        <dsp:cNvPr id="0" name=""/>
        <dsp:cNvSpPr/>
      </dsp:nvSpPr>
      <dsp:spPr>
        <a:xfrm>
          <a:off x="8897091" y="562158"/>
          <a:ext cx="1444591" cy="144459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9B3ED-0D84-4E85-B160-B2D100B4EE56}">
      <dsp:nvSpPr>
        <dsp:cNvPr id="0" name=""/>
        <dsp:cNvSpPr/>
      </dsp:nvSpPr>
      <dsp:spPr>
        <a:xfrm>
          <a:off x="9204955" y="870022"/>
          <a:ext cx="828864" cy="8288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D3734-B389-4135-A8DA-6BC679336152}">
      <dsp:nvSpPr>
        <dsp:cNvPr id="0" name=""/>
        <dsp:cNvSpPr/>
      </dsp:nvSpPr>
      <dsp:spPr>
        <a:xfrm>
          <a:off x="8435295" y="2456704"/>
          <a:ext cx="23681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Objective: estimate the probability of default and expected loss for loans</a:t>
          </a:r>
          <a:endParaRPr lang="en-US" sz="1300" kern="1200"/>
        </a:p>
      </dsp:txBody>
      <dsp:txXfrm>
        <a:off x="8435295" y="2456704"/>
        <a:ext cx="236818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8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9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29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64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8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4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88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1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8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9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02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20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B525E-CB96-2538-3427-4138B5E73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Credit Risk Analysis: Probability of Default &amp; Expected Loss</a:t>
            </a:r>
            <a:endParaRPr lang="en-IN" sz="4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DA200-02D7-CFCE-1409-975F10635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6234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i="1" dirty="0"/>
              <a:t>Prototype Credit Risk Model for Retail Banking Loans</a:t>
            </a:r>
          </a:p>
          <a:p>
            <a:pPr>
              <a:lnSpc>
                <a:spcPct val="120000"/>
              </a:lnSpc>
            </a:pPr>
            <a:r>
              <a:rPr lang="en-IN" sz="1200" i="1" dirty="0"/>
              <a:t>Pradyumna Sharma</a:t>
            </a:r>
            <a:br>
              <a:rPr lang="en-IN" sz="1200" i="1" dirty="0"/>
            </a:br>
            <a:r>
              <a:rPr lang="en-IN" sz="1200" i="1" dirty="0"/>
              <a:t>JPMorgan Chase – Quantitative Research Virtual Experience Program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B4B7DE6-1114-15B7-DE72-8A6F7BA481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0" r="5647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66E9F-4606-69FA-7EB3-87B9F74B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IN"/>
              <a:t>Business Problem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A2783BC5-5CD2-165F-5F88-BFE3A06145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19387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9522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086E1-C982-C3BB-A1C1-3A4C02B1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IN"/>
              <a:t>Loan Data Overview</a:t>
            </a:r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25A300E6-CBBA-50CA-F321-6EE0407594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Historical loan-level borrower dataset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Each record represents an individual loan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features used: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FICO score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Annual income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Loan amount outstanding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Total debt outstanding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Number of credit lines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Target variable: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Loan default (0 = No default, 1 = Default)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Calculator, pen, compass, money and a paper with graphs printed on it">
            <a:extLst>
              <a:ext uri="{FF2B5EF4-FFF2-40B4-BE49-F238E27FC236}">
                <a16:creationId xmlns:a16="http://schemas.microsoft.com/office/drawing/2014/main" id="{CAD3C000-4218-E857-A71C-84FC5BB72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68" r="26855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5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4569B-80D8-33F1-03C5-EBCC55CE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IN"/>
              <a:t>Modeling Approach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">
            <a:extLst>
              <a:ext uri="{FF2B5EF4-FFF2-40B4-BE49-F238E27FC236}">
                <a16:creationId xmlns:a16="http://schemas.microsoft.com/office/drawing/2014/main" id="{013E757B-ED6A-F5EC-07CD-2F02F4CC3E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Logistic Regression used to estimate Probability of Default (PD)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Suitable for binary classification problems such as default prediction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Chosen for: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Interpretability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Transparency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Industry acceptance in credit risk modeling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 trained using historical loan outcomes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Output is a PD value between 0 and 1 for each borrower</a:t>
            </a:r>
          </a:p>
        </p:txBody>
      </p:sp>
      <p:pic>
        <p:nvPicPr>
          <p:cNvPr id="6" name="Picture 5" descr="Office building overlayed with stock market graphs">
            <a:extLst>
              <a:ext uri="{FF2B5EF4-FFF2-40B4-BE49-F238E27FC236}">
                <a16:creationId xmlns:a16="http://schemas.microsoft.com/office/drawing/2014/main" id="{F9F72FA6-EFE9-B633-A6AC-93C3238B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35" r="517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2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DB847-58A8-2A7C-C741-C5E077AC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IN" sz="3700"/>
              <a:t>Expected Loss Calculation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3637-6D14-9DAB-2111-7DEC5C733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Expected Loss = PD × Loan Amount × (1 − Recovery Rate)</a:t>
            </a:r>
          </a:p>
          <a:p>
            <a:r>
              <a:rPr lang="en-US" dirty="0"/>
              <a:t>Probability of Default obtained from the trained model</a:t>
            </a:r>
          </a:p>
          <a:p>
            <a:r>
              <a:rPr lang="en-US" dirty="0"/>
              <a:t>Exposure defined as loan amount outstanding</a:t>
            </a:r>
          </a:p>
          <a:p>
            <a:r>
              <a:rPr lang="en-US" dirty="0"/>
              <a:t>Recovery rate assumed to be 10%</a:t>
            </a:r>
          </a:p>
          <a:p>
            <a:r>
              <a:rPr lang="en-US" dirty="0"/>
              <a:t>Model outputs expected monetary loss for each loan</a:t>
            </a:r>
            <a:endParaRPr lang="en-IN" dirty="0"/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392E96A0-4352-1A98-2318-789C11BF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35" r="517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6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7F380-FC94-D2B1-5752-AA5B43AD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/>
              <a:t>Business Value and Applications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AE1E90F-CBF5-7326-6AC0-30A7FFF3F5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Enables estimation of potential losses from loan defaults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Supports risk-based decision making in retail banking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Helps with: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Capital allocation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Risk monitoring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Portfolio-level loss analysis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Can be extended for advanced credit risk models and stress testing</a:t>
            </a:r>
          </a:p>
        </p:txBody>
      </p:sp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F1EA0245-E8FC-40A3-8F54-0B824B3F9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40" r="18790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0899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Credit Risk Analysis: Probability of Default &amp; Expected Loss</vt:lpstr>
      <vt:lpstr>Business Problem</vt:lpstr>
      <vt:lpstr>Loan Data Overview</vt:lpstr>
      <vt:lpstr>Modeling Approach</vt:lpstr>
      <vt:lpstr>Expected Loss Calculation</vt:lpstr>
      <vt:lpstr>Business Value and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PRADYUMNA SHARMA - 240906356 - MITMPL</dc:creator>
  <cp:lastModifiedBy>PRADYUMNA SHARMA - 240906356 - MITMPL</cp:lastModifiedBy>
  <cp:revision>1</cp:revision>
  <dcterms:created xsi:type="dcterms:W3CDTF">2026-01-21T05:19:58Z</dcterms:created>
  <dcterms:modified xsi:type="dcterms:W3CDTF">2026-01-21T05:37:27Z</dcterms:modified>
</cp:coreProperties>
</file>